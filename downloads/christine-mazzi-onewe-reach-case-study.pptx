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9144000" cx="6858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4E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2A6B5E"/>
          </a:solidFill>
          <a:ln cap="flat" cmpd="sng" w="12700">
            <a:solidFill>
              <a:srgbClr val="2A6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640080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 ·  Health experience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1005840"/>
            <a:ext cx="6400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OneWe Reach —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Reclaim Your Time Summit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338328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C4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0C4BE"/>
                </a:solidFill>
                <a:latin typeface="Calibri"/>
                <a:ea typeface="Calibri"/>
                <a:cs typeface="Calibri"/>
                <a:sym typeface="Calibri"/>
              </a:rPr>
              <a:t>Designing a full-day experiential health summit and post-event digital platform for healthcare professionals — from persona architecture to product launch.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576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" y="48920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OneWe Reach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92024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20240" y="48920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47472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AUDIENCE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474720" y="48920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Healthcare professionals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MY ROLE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029200" y="48920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Health experience designer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65760" y="868680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365760" y="3200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800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365760" y="5486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365760" y="658368"/>
            <a:ext cx="6126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Healthcare professionals know the science. They weren't using it on themselves.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196596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One We Reach was designing a full-day peak performance summit for professionals working across healthcare. The challenge was getting them to see themselves as the patient — to apply the same evidence-based scrutiny they use at work to their own healthspan.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3108960"/>
            <a:ext cx="6126480" cy="1143000"/>
          </a:xfrm>
          <a:prstGeom prst="rect">
            <a:avLst/>
          </a:prstGeom>
          <a:solidFill>
            <a:srgbClr val="1D4E44"/>
          </a:solidFill>
          <a:ln cap="flat" cmpd="sng" w="12700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02920" y="3218688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0" i="1" lang="en-US" sz="11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"How do you design an experience that makes a VP of Commercial Strategy or a hospitalist physician stop performing expertise — and actually look in the mirror?"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5760" y="44348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MY ROLE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365760" y="46634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4"/>
          <p:cNvSpPr/>
          <p:nvPr/>
        </p:nvSpPr>
        <p:spPr>
          <a:xfrm>
            <a:off x="365760" y="4754880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600"/>
              <a:buFont typeface="Cambria"/>
              <a:buNone/>
            </a:pPr>
            <a:r>
              <a:rPr b="0" i="0" lang="en-US" sz="16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Six distinct contributions across content, science, and product.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5760" y="5440680"/>
            <a:ext cx="3008376" cy="896112"/>
          </a:xfrm>
          <a:prstGeom prst="roundRect">
            <a:avLst>
              <a:gd fmla="val 6122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93776" y="5550408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93776" y="5760720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Persona system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93776" y="6080760"/>
            <a:ext cx="27523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Built 10 clinically grounded personas representing health profiles, disease anchors, and life circumstances.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483864" y="5440680"/>
            <a:ext cx="3008376" cy="896112"/>
          </a:xfrm>
          <a:prstGeom prst="roundRect">
            <a:avLst>
              <a:gd fmla="val 6122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611880" y="5550408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11880" y="5760720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Health literacy tool selection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11880" y="6080760"/>
            <a:ext cx="27523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Researched and selected two validated health literacy instruments for the audience and summit goals.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65760" y="6428232"/>
            <a:ext cx="3008376" cy="896112"/>
          </a:xfrm>
          <a:prstGeom prst="roundRect">
            <a:avLst>
              <a:gd fmla="val 6122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93776" y="653796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93776" y="6748272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Institutional permissions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93776" y="7068312"/>
            <a:ext cx="27523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Liaised with the University of Pittsburgh to secure formal permissions for clinical assessment tools.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483864" y="6428232"/>
            <a:ext cx="3008376" cy="896112"/>
          </a:xfrm>
          <a:prstGeom prst="roundRect">
            <a:avLst>
              <a:gd fmla="val 6122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611880" y="653796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611880" y="6748272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Journey reflection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611880" y="7068312"/>
            <a:ext cx="27523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Wrote discussion prompts and journey reflections to provoke empathy before self-reflection.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65760" y="7415784"/>
            <a:ext cx="3008376" cy="896112"/>
          </a:xfrm>
          <a:prstGeom prst="roundRect">
            <a:avLst>
              <a:gd fmla="val 6122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93776" y="7525512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93776" y="7735824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Facilitation architecture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93776" y="8055864"/>
            <a:ext cx="27523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Designed the day-of facilitation structure and the 'mask off' experiential moment.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483864" y="7415784"/>
            <a:ext cx="3008376" cy="896112"/>
          </a:xfrm>
          <a:prstGeom prst="roundRect">
            <a:avLst>
              <a:gd fmla="val 6122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611880" y="7525512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611880" y="7735824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Post-summit platform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611880" y="8055864"/>
            <a:ext cx="27523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Conceived all features and managed developer build of the post-summit digital platform.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65760" y="873252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89E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AAA89E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65760" y="8732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365760" y="3200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HOW I THINK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5"/>
          <p:cNvCxnSpPr/>
          <p:nvPr/>
        </p:nvCxnSpPr>
        <p:spPr>
          <a:xfrm>
            <a:off x="365760" y="5486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5"/>
          <p:cNvSpPr/>
          <p:nvPr/>
        </p:nvSpPr>
        <p:spPr>
          <a:xfrm>
            <a:off x="365760" y="658368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The process behind the persona system.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65760" y="1417320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DE9"/>
              </a:buClr>
              <a:buSzPts val="2800"/>
              <a:buFont typeface="Cambria"/>
              <a:buNone/>
            </a:pPr>
            <a:r>
              <a:rPr b="0" i="1" lang="en-US" sz="2800" u="none" cap="none" strike="noStrike">
                <a:solidFill>
                  <a:srgbClr val="D8EDE9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22960" y="14173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Anchor each persona to a disease area and a performance identity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22960" y="1737360"/>
            <a:ext cx="5669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Rather than building generic health archetypes, I anchored each of the 10 personas to a specific disease area and a professional identity that would resonate with the room — so every attendee could find themselves in at least one persona.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5"/>
          <p:cNvCxnSpPr/>
          <p:nvPr/>
        </p:nvCxnSpPr>
        <p:spPr>
          <a:xfrm>
            <a:off x="365760" y="310896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EE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5"/>
          <p:cNvSpPr/>
          <p:nvPr/>
        </p:nvSpPr>
        <p:spPr>
          <a:xfrm>
            <a:off x="365760" y="3200400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DE9"/>
              </a:buClr>
              <a:buSzPts val="2800"/>
              <a:buFont typeface="Cambria"/>
              <a:buNone/>
            </a:pPr>
            <a:r>
              <a:rPr b="0" i="1" lang="en-US" sz="2800" u="none" cap="none" strike="noStrike">
                <a:solidFill>
                  <a:srgbClr val="D8EDE9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22960" y="320040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Integrate validated science, not invented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22960" y="3520440"/>
            <a:ext cx="5669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Every persona includes a McCance Brain Care Score and a Health Literacy Score. I selected the Stilley instrument for clinical validity and secured formal permission from the University of Pittsburgh authors to use it in the summit context.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5"/>
          <p:cNvCxnSpPr/>
          <p:nvPr/>
        </p:nvCxnSpPr>
        <p:spPr>
          <a:xfrm>
            <a:off x="365760" y="48920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EE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5"/>
          <p:cNvSpPr/>
          <p:nvPr/>
        </p:nvSpPr>
        <p:spPr>
          <a:xfrm>
            <a:off x="365760" y="4983480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DE9"/>
              </a:buClr>
              <a:buSzPts val="2800"/>
              <a:buFont typeface="Cambria"/>
              <a:buNone/>
            </a:pPr>
            <a:r>
              <a:rPr b="0" i="1" lang="en-US" sz="2800" u="none" cap="none" strike="noStrike">
                <a:solidFill>
                  <a:srgbClr val="D8EDE9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22960" y="498348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Design for the third-person effect, then the mirror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22960" y="5303520"/>
            <a:ext cx="5669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Participants spend the morning inhabiting someone else's health story, then at the 'taking off the mask' moment, turn that same lens on themselves. The third-person distance is what makes the self-reflection land.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5"/>
          <p:cNvCxnSpPr/>
          <p:nvPr/>
        </p:nvCxnSpPr>
        <p:spPr>
          <a:xfrm>
            <a:off x="365760" y="667512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EE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5"/>
          <p:cNvSpPr/>
          <p:nvPr/>
        </p:nvSpPr>
        <p:spPr>
          <a:xfrm>
            <a:off x="365760" y="6766560"/>
            <a:ext cx="411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DE9"/>
              </a:buClr>
              <a:buSzPts val="2800"/>
              <a:buFont typeface="Cambria"/>
              <a:buNone/>
            </a:pPr>
            <a:r>
              <a:rPr b="0" i="1" lang="en-US" sz="2800" u="none" cap="none" strike="noStrike">
                <a:solidFill>
                  <a:srgbClr val="D8EDE9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22960" y="676656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Write prompts that provoke, not instruct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22960" y="7086600"/>
            <a:ext cx="5669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Each persona includes journey reflections — hypothetical life events designed to surface the gaps between knowing and doing. That gap is exactly what the summit exists to close.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65760" y="873252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89E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AAA89E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5760" y="8732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365760" y="3200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THE DIGITAL PLATFORM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6"/>
          <p:cNvCxnSpPr/>
          <p:nvPr/>
        </p:nvCxnSpPr>
        <p:spPr>
          <a:xfrm>
            <a:off x="365760" y="5486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6"/>
          <p:cNvSpPr/>
          <p:nvPr/>
        </p:nvSpPr>
        <p:spPr>
          <a:xfrm>
            <a:off x="365760" y="658368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The summit was one day. The platform is what makes it last.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65760" y="1463040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I conceived and managed the development of a post-summit platform to sustain the behavior change the summit starts. I defined every feature, wrote the product requirements, and managed the developer through build and iteration.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65760" y="2377440"/>
            <a:ext cx="3008376" cy="82296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93776" y="2468880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Brain Care Score tracker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93776" y="2743200"/>
            <a:ext cx="2752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Attendees log and track their personal BCS across 30, 60, and 90-day milestones.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483864" y="2377440"/>
            <a:ext cx="3008376" cy="82296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611880" y="2468880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90-day action plan builder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611880" y="2743200"/>
            <a:ext cx="2752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Structured tool for building a personalized commitment plan from the summit day exercise.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65760" y="3291840"/>
            <a:ext cx="3008376" cy="82296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93776" y="3383280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Community feed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93776" y="3657600"/>
            <a:ext cx="2752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Peer accountability space where attendees share reflections and progress with cohort members.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483864" y="3291840"/>
            <a:ext cx="3008376" cy="82296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611880" y="3383280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Persona library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611880" y="3657600"/>
            <a:ext cx="2752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All 10 summit personas accessible post-event — so attendees can revisit and share.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" y="4206240"/>
            <a:ext cx="3008376" cy="82296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93776" y="4297680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Resource 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93776" y="4572000"/>
            <a:ext cx="2752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Curated frameworks and disease-area content organized by the summit's clinical themes.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483864" y="4206240"/>
            <a:ext cx="3008376" cy="82296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611880" y="4297680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Cohort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611880" y="4572000"/>
            <a:ext cx="2752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Facilitator-facing view of aggregate BCS trends and community activity.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65760" y="521208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SKILLS &amp; METHODS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6"/>
          <p:cNvCxnSpPr/>
          <p:nvPr/>
        </p:nvCxnSpPr>
        <p:spPr>
          <a:xfrm>
            <a:off x="365760" y="544068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6"/>
          <p:cNvSpPr/>
          <p:nvPr/>
        </p:nvSpPr>
        <p:spPr>
          <a:xfrm>
            <a:off x="365760" y="5577840"/>
            <a:ext cx="1342339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65760" y="5577840"/>
            <a:ext cx="13423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Persona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799539" y="5577840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1799539" y="557784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Health literacy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308299" y="5577840"/>
            <a:ext cx="1642262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308299" y="5577840"/>
            <a:ext cx="164226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Summit programming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042002" y="5577840"/>
            <a:ext cx="1492301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042002" y="5577840"/>
            <a:ext cx="1492301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Brain Care Score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65760" y="5925312"/>
            <a:ext cx="1717243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65760" y="5925312"/>
            <a:ext cx="17172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Facilitation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174443" y="5925312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2174443" y="592531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Journey mapping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683203" y="5925312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683203" y="592531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Digital product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191963" y="5925312"/>
            <a:ext cx="1342339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5191963" y="5925312"/>
            <a:ext cx="13423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Dev management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65760" y="6272784"/>
            <a:ext cx="1567282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D4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365760" y="6272784"/>
            <a:ext cx="156728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D4E44"/>
                </a:solidFill>
                <a:latin typeface="Calibri"/>
                <a:ea typeface="Calibri"/>
                <a:cs typeface="Calibri"/>
                <a:sym typeface="Calibri"/>
              </a:rPr>
              <a:t>Behavioral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0" y="8138160"/>
            <a:ext cx="6858000" cy="1005840"/>
          </a:xfrm>
          <a:prstGeom prst="rect">
            <a:avLst/>
          </a:prstGeom>
          <a:solidFill>
            <a:srgbClr val="111110"/>
          </a:solidFill>
          <a:ln cap="flat" cmpd="sng" w="12700">
            <a:solidFill>
              <a:srgbClr val="1111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65760" y="8275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Christine Mazzi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65760" y="86410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christinemazzi@berkeley.edu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65760" y="8641080"/>
            <a:ext cx="6126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