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9144000" cx="6858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2B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8B3A3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640080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 ·  Health experience design  ·  Maternal health equity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1005840"/>
            <a:ext cx="6400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Birth By Us —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Empowering Maternal Care for Women of Color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3566160"/>
            <a:ext cx="6126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C4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0C4BE"/>
                </a:solidFill>
                <a:latin typeface="Calibri"/>
                <a:ea typeface="Calibri"/>
                <a:cs typeface="Calibri"/>
                <a:sym typeface="Calibri"/>
              </a:rPr>
              <a:t>Designing a doula-matching platform to address the Black maternal mortality crisis — from community research to live prototype.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576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" y="48920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Birth By 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92024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20240" y="48920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47472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AUDIENCE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474720" y="48920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Black &amp; Brown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birthing people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MY ROLE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029200" y="48920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Researcher,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designer &amp; liaison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65760" y="868680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365760" y="3200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365760" y="5486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365760" y="658368"/>
            <a:ext cx="6126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Black </a:t>
            </a:r>
            <a:r>
              <a:rPr lang="en-US" sz="2000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mothers </a:t>
            </a: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die at four times the rate of white </a:t>
            </a:r>
            <a:r>
              <a:rPr lang="en-US" sz="2000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mothers</a:t>
            </a: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 — regardless of income or education.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1920240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The disparity is driven by structural racism in healthcare. One of the most evidence-backed interventions? Doulas. But access to culturally competent doulas remains deeply unequal.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2788920"/>
            <a:ext cx="19812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5760" y="2926080"/>
            <a:ext cx="198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3000"/>
              <a:buFont typeface="Cambria"/>
              <a:buNone/>
            </a:pPr>
            <a:r>
              <a:rPr b="0" i="0" lang="en-US" sz="3000" u="none" cap="none" strike="noStrike">
                <a:solidFill>
                  <a:srgbClr val="8B3A3A"/>
                </a:solidFill>
                <a:latin typeface="Cambria"/>
                <a:ea typeface="Cambria"/>
                <a:cs typeface="Cambria"/>
                <a:sym typeface="Cambria"/>
              </a:rPr>
              <a:t>4×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3447288"/>
            <a:ext cx="1798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Higher maternal mortality for Black birthing people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438400" y="2788920"/>
            <a:ext cx="19812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438400" y="2926080"/>
            <a:ext cx="198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3000"/>
              <a:buFont typeface="Cambria"/>
              <a:buNone/>
            </a:pPr>
            <a:r>
              <a:rPr b="0" i="0" lang="en-US" sz="3000" u="none" cap="none" strike="noStrike">
                <a:solidFill>
                  <a:srgbClr val="8B3A3A"/>
                </a:solidFill>
                <a:latin typeface="Cambria"/>
                <a:ea typeface="Cambria"/>
                <a:cs typeface="Cambria"/>
                <a:sym typeface="Cambria"/>
              </a:rPr>
              <a:t>53%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29840" y="3447288"/>
            <a:ext cx="1798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Less likely to need C-section with doula support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11040" y="2788920"/>
            <a:ext cx="19812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11040" y="2926080"/>
            <a:ext cx="198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3000"/>
              <a:buFont typeface="Cambria"/>
              <a:buNone/>
            </a:pPr>
            <a:r>
              <a:rPr b="0" i="0" lang="en-US" sz="3000" u="none" cap="none" strike="noStrike">
                <a:solidFill>
                  <a:srgbClr val="8B3A3A"/>
                </a:solidFill>
                <a:latin typeface="Cambria"/>
                <a:ea typeface="Cambria"/>
                <a:cs typeface="Cambria"/>
                <a:sym typeface="Cambria"/>
              </a:rPr>
              <a:t>58%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602480" y="3447288"/>
            <a:ext cx="1798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Less likely to experience postpartum depression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411480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MY ROLE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4"/>
          <p:cNvCxnSpPr/>
          <p:nvPr/>
        </p:nvCxnSpPr>
        <p:spPr>
          <a:xfrm>
            <a:off x="365760" y="434340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4"/>
          <p:cNvSpPr/>
          <p:nvPr/>
        </p:nvSpPr>
        <p:spPr>
          <a:xfrm>
            <a:off x="365760" y="4434840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600"/>
              <a:buFont typeface="Cambria"/>
              <a:buNone/>
            </a:pPr>
            <a:r>
              <a:rPr b="0" i="0" lang="en-US" sz="16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Researcher, designer, and the bridge between the team and our industry mentor.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760" y="5193792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93776" y="530352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93776" y="5513832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Foundational research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93776" y="5833872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Led literature review on Black maternal mortality and clinical evidence for doula care.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483864" y="5193792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611880" y="530352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611880" y="5513832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Focus group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611880" y="5833872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Developed interview questions and contributed to 6 focus groups with birthing people and doulas.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65760" y="6089904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93776" y="6199632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93776" y="6409944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Persona development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93776" y="6729984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Built data-grounded personas including Aiysha and Karma, distilled from real focus group patterns.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483864" y="6089904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611880" y="6199632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611880" y="6409944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Conceptual modeling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611880" y="6729984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Developed the logical models that translated research findings into product architecture.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65760" y="6986016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3776" y="7095744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3776" y="7306056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App design &amp; prototype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93776" y="7626096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Contributed to app mockup and MVP design through to a live prototype.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483864" y="6986016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611880" y="7095744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611880" y="7306056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Industry mentor liaison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611880" y="7626096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Served as the team's primary point of contact — managing comms and translating feedback into direction.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65760" y="873252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89E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AAA89E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65760" y="8732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365760" y="3200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HOW I THINK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5"/>
          <p:cNvCxnSpPr/>
          <p:nvPr/>
        </p:nvCxnSpPr>
        <p:spPr>
          <a:xfrm>
            <a:off x="365760" y="5486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5"/>
          <p:cNvSpPr/>
          <p:nvPr/>
        </p:nvSpPr>
        <p:spPr>
          <a:xfrm>
            <a:off x="365760" y="658368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Research first. Six focus groups before a single screen was designed.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65760" y="146304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ADA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2DAD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22960" y="146304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Ground the problem in evidence, not assumptions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22960" y="1755648"/>
            <a:ext cx="5669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We started with literature — maternal mortality data, clinical evidence for doula care, and the socio-ecological model. We needed to understand structural forces before designing against them.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5"/>
          <p:cNvCxnSpPr/>
          <p:nvPr/>
        </p:nvCxnSpPr>
        <p:spPr>
          <a:xfrm>
            <a:off x="365760" y="301752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EE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5"/>
          <p:cNvSpPr/>
          <p:nvPr/>
        </p:nvSpPr>
        <p:spPr>
          <a:xfrm>
            <a:off x="365760" y="3090672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ADA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2DAD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22960" y="309067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Go to the community — both sides of the equation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22960" y="3383280"/>
            <a:ext cx="5669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We ran 6 focus groups with two distinct audiences: birthing people and practicing doulas. A platform that only optimizes for the patient fails doulas. We needed to understand both simultaneously.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5"/>
          <p:cNvCxnSpPr/>
          <p:nvPr/>
        </p:nvCxnSpPr>
        <p:spPr>
          <a:xfrm>
            <a:off x="365760" y="4645152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EE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5"/>
          <p:cNvSpPr/>
          <p:nvPr/>
        </p:nvSpPr>
        <p:spPr>
          <a:xfrm>
            <a:off x="365760" y="4718304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ADA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2DAD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22960" y="4718304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Let the data build the personas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22960" y="5010912"/>
            <a:ext cx="5669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The personas weren't invented — they were distilled. Aiysha came from a real pattern: a young low-income mother, away from family, who experienced miscarriage and couldn't find a doula. Karma came from a different pattern: an experienced doula frustrated by HIPAA burdens.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5"/>
          <p:cNvCxnSpPr/>
          <p:nvPr/>
        </p:nvCxnSpPr>
        <p:spPr>
          <a:xfrm>
            <a:off x="365760" y="6272784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EE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5"/>
          <p:cNvSpPr/>
          <p:nvPr/>
        </p:nvSpPr>
        <p:spPr>
          <a:xfrm>
            <a:off x="365760" y="634593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DADA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2DAD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22960" y="6345936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Design for the match, not just the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22960" y="6638544"/>
            <a:ext cx="56692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Mothers didn't just need to find a doula — they needed the right one. The solution became a matching system surfacing doulas with shared lived experience.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65760" y="873252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89E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AAA89E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65760" y="8732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365760" y="3200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>
            <a:off x="365760" y="5486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6"/>
          <p:cNvSpPr/>
          <p:nvPr/>
        </p:nvSpPr>
        <p:spPr>
          <a:xfrm>
            <a:off x="365760" y="658368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Two audiences. Five needs each. One platform to bridge them.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65760" y="1463040"/>
            <a:ext cx="2994660" cy="310896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02920" y="1572768"/>
            <a:ext cx="27203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Mothers want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2920" y="1920240"/>
            <a:ext cx="27203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Centralizing a place for information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Navigating costs and insurance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Cultural sensitivity and shared experience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Location-based doula discovery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Consistent support throughout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497580" y="1463040"/>
            <a:ext cx="2994660" cy="310896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634740" y="1572768"/>
            <a:ext cx="27203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Doulas want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634740" y="1920240"/>
            <a:ext cx="27203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A professional doula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A platform to connect with clients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Fair compensation structures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HIPAA-compliant intake paperwork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– Clearer certification pathways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5760" y="475488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SKILLS &amp; METHODS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>
            <a:off x="365760" y="498348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6"/>
          <p:cNvSpPr/>
          <p:nvPr/>
        </p:nvSpPr>
        <p:spPr>
          <a:xfrm>
            <a:off x="365760" y="5120640"/>
            <a:ext cx="1792224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65760" y="5120640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Qualitative research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249424" y="5120640"/>
            <a:ext cx="2092147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2249424" y="5120640"/>
            <a:ext cx="2092147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Focus group facilitation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433011" y="5120640"/>
            <a:ext cx="1717243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433011" y="5120640"/>
            <a:ext cx="17172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Persona development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65760" y="5468112"/>
            <a:ext cx="1267358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65760" y="5468112"/>
            <a:ext cx="126735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Health equity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724558" y="5468112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1724558" y="546811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Maternal health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233318" y="5468112"/>
            <a:ext cx="1042416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233318" y="5468112"/>
            <a:ext cx="10424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App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367174" y="5468112"/>
            <a:ext cx="1942186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367174" y="5468112"/>
            <a:ext cx="194218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Stakeholder management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65760" y="5815584"/>
            <a:ext cx="1717243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65760" y="5815584"/>
            <a:ext cx="17172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Conceptual modeling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174443" y="5815584"/>
            <a:ext cx="2167128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2174443" y="5815584"/>
            <a:ext cx="2167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Community-centered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0" y="8138160"/>
            <a:ext cx="6858000" cy="1005840"/>
          </a:xfrm>
          <a:prstGeom prst="rect">
            <a:avLst/>
          </a:prstGeom>
          <a:solidFill>
            <a:srgbClr val="111110"/>
          </a:solidFill>
          <a:ln cap="flat" cmpd="sng" w="12700">
            <a:solidFill>
              <a:srgbClr val="1111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65760" y="8275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Christine Mazzi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65760" y="86410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christinemazzi@berkeley.edu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65760" y="8641080"/>
            <a:ext cx="6126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