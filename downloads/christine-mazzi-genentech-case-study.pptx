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9144000" cx="6858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24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64008" cy="9144000"/>
          </a:xfrm>
          <a:prstGeom prst="rect">
            <a:avLst/>
          </a:prstGeom>
          <a:solidFill>
            <a:srgbClr val="1A5FA8"/>
          </a:solidFill>
          <a:ln cap="flat" cmpd="sng" w="12700">
            <a:solidFill>
              <a:srgbClr val="1A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365760" y="640080"/>
            <a:ext cx="6126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Case study  ·  AI operations design  ·  Clinical trial finance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65760" y="1005840"/>
            <a:ext cx="64008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Genentech —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0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AI-Powered Invoice Tracking Dashboard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65760" y="3383280"/>
            <a:ext cx="6126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0C4B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0C4BE"/>
                </a:solidFill>
                <a:latin typeface="Calibri"/>
                <a:ea typeface="Calibri"/>
                <a:cs typeface="Calibri"/>
                <a:sym typeface="Calibri"/>
              </a:rPr>
              <a:t>Identifying a broken operational workflow inside a clinical trial finance team and independently designing and building an AI-powered solution — from problem framing to prototype to stakeholder handoff.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65760" y="466344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ORGANIZATION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65760" y="489204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Roche </a:t>
            </a:r>
            <a:r>
              <a:rPr b="1" i="0" lang="en-US" sz="1000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Genentech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920240" y="466344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YEAR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920240" y="489204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2025–2026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474720" y="466344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AUDIENCE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474720" y="489204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Clinical trial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professionals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029200" y="466344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MY ROLE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029200" y="489204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Designer,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E0E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E0E0"/>
                </a:solidFill>
                <a:latin typeface="Calibri"/>
                <a:ea typeface="Calibri"/>
                <a:cs typeface="Calibri"/>
                <a:sym typeface="Calibri"/>
              </a:rPr>
              <a:t>builder &amp; PM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365760" y="8701572"/>
            <a:ext cx="612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mbria"/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Rigorous science. Human experience.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365760" y="320040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FA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5FA8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4"/>
          <p:cNvCxnSpPr/>
          <p:nvPr/>
        </p:nvCxnSpPr>
        <p:spPr>
          <a:xfrm>
            <a:off x="365760" y="548640"/>
            <a:ext cx="6126480" cy="0"/>
          </a:xfrm>
          <a:prstGeom prst="straightConnector1">
            <a:avLst/>
          </a:prstGeom>
          <a:noFill/>
          <a:ln cap="flat" cmpd="sng" w="9525">
            <a:solidFill>
              <a:srgbClr val="E0DD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4"/>
          <p:cNvSpPr/>
          <p:nvPr/>
        </p:nvSpPr>
        <p:spPr>
          <a:xfrm>
            <a:off x="365760" y="658368"/>
            <a:ext cx="61264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2000"/>
              <a:buFont typeface="Cambria"/>
              <a:buNone/>
            </a:pPr>
            <a:r>
              <a:rPr b="0" i="0" lang="en-US" sz="2000" u="none" cap="none" strike="noStrike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Financial analysts were receiving a plethora of invoices per day — creating chronic backlog and putting the team at risk of late payments.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65760" y="2103120"/>
            <a:ext cx="6126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5A5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5A56"/>
                </a:solidFill>
                <a:latin typeface="Calibri"/>
                <a:ea typeface="Calibri"/>
                <a:cs typeface="Calibri"/>
                <a:sym typeface="Calibri"/>
              </a:rPr>
              <a:t>Each invoice took 5–7 minutes to process manually — to open, rename, extract data, log, file, and link. At 40+ per day, that's hours of work that a well-designed system could do automatically. Nobody had framed it as a solvable problem. I did.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65760" y="3063240"/>
            <a:ext cx="198120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365760" y="3200400"/>
            <a:ext cx="198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FA8"/>
              </a:buClr>
              <a:buSzPts val="3000"/>
              <a:buFont typeface="Cambria"/>
              <a:buNone/>
            </a:pPr>
            <a:r>
              <a:rPr b="0" i="0" lang="en-US" sz="3000" u="none" cap="none" strike="noStrike">
                <a:solidFill>
                  <a:srgbClr val="1A5FA8"/>
                </a:solidFill>
                <a:latin typeface="Cambria"/>
                <a:ea typeface="Cambria"/>
                <a:cs typeface="Cambria"/>
                <a:sym typeface="Cambria"/>
              </a:rPr>
              <a:t>40+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57200" y="3721608"/>
            <a:ext cx="179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Invoice PDFs received per analyst per day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2438400" y="3063240"/>
            <a:ext cx="198120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2438400" y="3200400"/>
            <a:ext cx="198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FA8"/>
              </a:buClr>
              <a:buSzPts val="3000"/>
              <a:buFont typeface="Cambria"/>
              <a:buNone/>
            </a:pPr>
            <a:r>
              <a:rPr b="0" i="0" lang="en-US" sz="3000" u="none" cap="none" strike="noStrike">
                <a:solidFill>
                  <a:srgbClr val="1A5FA8"/>
                </a:solidFill>
                <a:latin typeface="Cambria"/>
                <a:ea typeface="Cambria"/>
                <a:cs typeface="Cambria"/>
                <a:sym typeface="Cambria"/>
              </a:rPr>
              <a:t>5–7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2529840" y="3721608"/>
            <a:ext cx="179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Minutes to manually log one invoice end to 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511040" y="3063240"/>
            <a:ext cx="198120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511040" y="3200400"/>
            <a:ext cx="198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FA8"/>
              </a:buClr>
              <a:buSzPts val="3000"/>
              <a:buFont typeface="Cambria"/>
              <a:buNone/>
            </a:pPr>
            <a:r>
              <a:rPr b="0" i="0" lang="en-US" sz="3000" u="none" cap="none" strike="noStrike">
                <a:solidFill>
                  <a:srgbClr val="1A5FA8"/>
                </a:solidFill>
                <a:latin typeface="Cambria"/>
                <a:ea typeface="Cambria"/>
                <a:cs typeface="Cambria"/>
                <a:sym typeface="Cambria"/>
              </a:rPr>
              <a:t>1,000+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602480" y="3721608"/>
            <a:ext cx="179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88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0"/>
                </a:solidFill>
                <a:latin typeface="Calibri"/>
                <a:ea typeface="Calibri"/>
                <a:cs typeface="Calibri"/>
                <a:sym typeface="Calibri"/>
              </a:rPr>
              <a:t>Projected hours saved annually with full automation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65760" y="4343400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FA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5FA8"/>
                </a:solidFill>
                <a:latin typeface="Calibri"/>
                <a:ea typeface="Calibri"/>
                <a:cs typeface="Calibri"/>
                <a:sym typeface="Calibri"/>
              </a:rPr>
              <a:t>MY ROLE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" name="Google Shape;48;p4"/>
          <p:cNvCxnSpPr/>
          <p:nvPr/>
        </p:nvCxnSpPr>
        <p:spPr>
          <a:xfrm>
            <a:off x="365760" y="4572000"/>
            <a:ext cx="6126480" cy="0"/>
          </a:xfrm>
          <a:prstGeom prst="straightConnector1">
            <a:avLst/>
          </a:prstGeom>
          <a:noFill/>
          <a:ln cap="flat" cmpd="sng" w="9525">
            <a:solidFill>
              <a:srgbClr val="E0DD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4"/>
          <p:cNvSpPr/>
          <p:nvPr/>
        </p:nvSpPr>
        <p:spPr>
          <a:xfrm>
            <a:off x="365760" y="4663440"/>
            <a:ext cx="6126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600"/>
              <a:buFont typeface="Cambria"/>
              <a:buNone/>
            </a:pPr>
            <a:r>
              <a:rPr b="0" i="0" lang="en-US" sz="1600" u="none" cap="none" strike="noStrike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Designer first. Then builder. Then project manager.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365760" y="5440680"/>
            <a:ext cx="3008376" cy="804672"/>
          </a:xfrm>
          <a:prstGeom prst="roundRect">
            <a:avLst>
              <a:gd fmla="val 6818" name="adj"/>
            </a:avLst>
          </a:prstGeom>
          <a:solidFill>
            <a:srgbClr val="F7F6F2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493776" y="5550408"/>
            <a:ext cx="27523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FA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5FA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93776" y="5673858"/>
            <a:ext cx="2752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System design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93776" y="6080760"/>
            <a:ext cx="2752344" cy="27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Designed what AI handles vs. what the human handles — the core human-in-the-loop architecture.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3483864" y="5440680"/>
            <a:ext cx="3008376" cy="804672"/>
          </a:xfrm>
          <a:prstGeom prst="roundRect">
            <a:avLst>
              <a:gd fmla="val 6818" name="adj"/>
            </a:avLst>
          </a:prstGeom>
          <a:solidFill>
            <a:srgbClr val="F7F6F2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3611880" y="5550408"/>
            <a:ext cx="27523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FA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5FA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611880" y="5760720"/>
            <a:ext cx="2752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Stakeholder management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3611880" y="6080760"/>
            <a:ext cx="2752344" cy="27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Liaised with a Senior FA for domain knowledge and a Senior Technical Associate for infrastructure.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65760" y="6336792"/>
            <a:ext cx="3008376" cy="804672"/>
          </a:xfrm>
          <a:prstGeom prst="roundRect">
            <a:avLst>
              <a:gd fmla="val 6818" name="adj"/>
            </a:avLst>
          </a:prstGeom>
          <a:solidFill>
            <a:srgbClr val="F7F6F2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493776" y="6446520"/>
            <a:ext cx="27523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FA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5FA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93776" y="6656832"/>
            <a:ext cx="2752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Technical build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93776" y="6976872"/>
            <a:ext cx="2752344" cy="27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Wrote Google Apps Script for email automation and built a Streamlit dashboard with Gemini via Portkey.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3483864" y="6336792"/>
            <a:ext cx="3008376" cy="804672"/>
          </a:xfrm>
          <a:prstGeom prst="roundRect">
            <a:avLst>
              <a:gd fmla="val 6818" name="adj"/>
            </a:avLst>
          </a:prstGeom>
          <a:solidFill>
            <a:srgbClr val="F7F6F2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3611880" y="6446520"/>
            <a:ext cx="27523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FA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5FA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611880" y="6656832"/>
            <a:ext cx="2752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Project management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3611880" y="6976872"/>
            <a:ext cx="2752344" cy="27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Ran biweekly check-ins, tracked milestones, and managed a shared project hub across three stakeholders.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65760" y="7232904"/>
            <a:ext cx="3008376" cy="804672"/>
          </a:xfrm>
          <a:prstGeom prst="roundRect">
            <a:avLst>
              <a:gd fmla="val 6818" name="adj"/>
            </a:avLst>
          </a:prstGeom>
          <a:solidFill>
            <a:srgbClr val="F7F6F2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93776" y="7342632"/>
            <a:ext cx="27523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FA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5FA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93776" y="7552944"/>
            <a:ext cx="2752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Problem framing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93776" y="7872984"/>
            <a:ext cx="2752344" cy="27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Applied HMW design thinking to frame an operational pain as a solvable product challenge.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483864" y="7232904"/>
            <a:ext cx="3008376" cy="804672"/>
          </a:xfrm>
          <a:prstGeom prst="roundRect">
            <a:avLst>
              <a:gd fmla="val 6818" name="adj"/>
            </a:avLst>
          </a:prstGeom>
          <a:solidFill>
            <a:srgbClr val="F7F6F2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3611880" y="7342632"/>
            <a:ext cx="27523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FA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5FA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611880" y="7552944"/>
            <a:ext cx="27523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Handoff &amp; documentation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3611880" y="7872984"/>
            <a:ext cx="2752344" cy="27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Trained the manager, documented all code and next steps, and left a clear roadmap to scale.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365760" y="8732520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89E"/>
              </a:buClr>
              <a:buSzPts val="900"/>
              <a:buFont typeface="Cambria"/>
              <a:buNone/>
            </a:pPr>
            <a:r>
              <a:rPr b="0" i="1" lang="en-US" sz="900" u="none" cap="none" strike="noStrike">
                <a:solidFill>
                  <a:srgbClr val="AAA89E"/>
                </a:solidFill>
                <a:latin typeface="Cambria"/>
                <a:ea typeface="Cambria"/>
                <a:cs typeface="Cambria"/>
                <a:sym typeface="Cambria"/>
              </a:rPr>
              <a:t>Rigorous science. Human experience.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365760" y="8732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/>
          <p:nvPr/>
        </p:nvSpPr>
        <p:spPr>
          <a:xfrm>
            <a:off x="365760" y="320040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FA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5FA8"/>
                </a:solidFill>
                <a:latin typeface="Calibri"/>
                <a:ea typeface="Calibri"/>
                <a:cs typeface="Calibri"/>
                <a:sym typeface="Calibri"/>
              </a:rPr>
              <a:t>HOW I THINK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5"/>
          <p:cNvCxnSpPr/>
          <p:nvPr/>
        </p:nvCxnSpPr>
        <p:spPr>
          <a:xfrm>
            <a:off x="365760" y="548640"/>
            <a:ext cx="6126480" cy="0"/>
          </a:xfrm>
          <a:prstGeom prst="straightConnector1">
            <a:avLst/>
          </a:prstGeom>
          <a:noFill/>
          <a:ln cap="flat" cmpd="sng" w="9525">
            <a:solidFill>
              <a:srgbClr val="E0DD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5"/>
          <p:cNvSpPr/>
          <p:nvPr/>
        </p:nvSpPr>
        <p:spPr>
          <a:xfrm>
            <a:off x="365760" y="658368"/>
            <a:ext cx="6126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2000"/>
              <a:buFont typeface="Cambria"/>
              <a:buNone/>
            </a:pPr>
            <a:r>
              <a:rPr b="0" i="0" lang="en-US" sz="2000" u="none" cap="none" strike="noStrike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Designing with constraints, not around them.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365760" y="1417320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AEA"/>
              </a:buClr>
              <a:buSzPts val="2600"/>
              <a:buFont typeface="Cambria"/>
              <a:buNone/>
            </a:pPr>
            <a:r>
              <a:rPr b="0" i="1" lang="en-US" sz="2600" u="none" cap="none" strike="noStrike">
                <a:solidFill>
                  <a:srgbClr val="CCDAE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822960" y="1417320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Frame the problem before touching the tools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822960" y="1709928"/>
            <a:ext cx="5669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5A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6"/>
                </a:solidFill>
                <a:latin typeface="Calibri"/>
                <a:ea typeface="Calibri"/>
                <a:cs typeface="Calibri"/>
                <a:sym typeface="Calibri"/>
              </a:rPr>
              <a:t>I sat with the Senior FA to map the current workflow — every step, every decision point, every pain. The goal was to understand which parts were purely mechanical and which required human judgment. That distinction shaped everything.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5"/>
          <p:cNvCxnSpPr/>
          <p:nvPr/>
        </p:nvCxnSpPr>
        <p:spPr>
          <a:xfrm>
            <a:off x="365760" y="3026664"/>
            <a:ext cx="6126480" cy="0"/>
          </a:xfrm>
          <a:prstGeom prst="straightConnector1">
            <a:avLst/>
          </a:prstGeom>
          <a:noFill/>
          <a:ln cap="flat" cmpd="sng" w="9525">
            <a:solidFill>
              <a:srgbClr val="EEEC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5"/>
          <p:cNvSpPr/>
          <p:nvPr/>
        </p:nvSpPr>
        <p:spPr>
          <a:xfrm>
            <a:off x="365760" y="3108960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AEA"/>
              </a:buClr>
              <a:buSzPts val="2600"/>
              <a:buFont typeface="Cambria"/>
              <a:buNone/>
            </a:pPr>
            <a:r>
              <a:rPr b="0" i="1" lang="en-US" sz="2600" u="none" cap="none" strike="noStrike">
                <a:solidFill>
                  <a:srgbClr val="CCDAE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822960" y="3108960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Evaluate execution options rigorously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822960" y="3401568"/>
            <a:ext cx="5669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5A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6"/>
                </a:solidFill>
                <a:latin typeface="Calibri"/>
                <a:ea typeface="Calibri"/>
                <a:cs typeface="Calibri"/>
                <a:sym typeface="Calibri"/>
              </a:rPr>
              <a:t>I documented three viable approaches with explicit pros and cons. Chose Streamlit + Gemini via Portkey because it was available now, fit the Google ecosystem, and could be built fast within the organization's real constraints.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5"/>
          <p:cNvCxnSpPr/>
          <p:nvPr/>
        </p:nvCxnSpPr>
        <p:spPr>
          <a:xfrm>
            <a:off x="365760" y="4718304"/>
            <a:ext cx="6126480" cy="0"/>
          </a:xfrm>
          <a:prstGeom prst="straightConnector1">
            <a:avLst/>
          </a:prstGeom>
          <a:noFill/>
          <a:ln cap="flat" cmpd="sng" w="9525">
            <a:solidFill>
              <a:srgbClr val="EEEC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5"/>
          <p:cNvSpPr/>
          <p:nvPr/>
        </p:nvSpPr>
        <p:spPr>
          <a:xfrm>
            <a:off x="365760" y="4800600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AEA"/>
              </a:buClr>
              <a:buSzPts val="2600"/>
              <a:buFont typeface="Cambria"/>
              <a:buNone/>
            </a:pPr>
            <a:r>
              <a:rPr b="0" i="1" lang="en-US" sz="2600" u="none" cap="none" strike="noStrike">
                <a:solidFill>
                  <a:srgbClr val="CCDAE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822960" y="4800600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Build iteratively with real stakeholder feedback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822960" y="5093208"/>
            <a:ext cx="5669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5A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6"/>
                </a:solidFill>
                <a:latin typeface="Calibri"/>
                <a:ea typeface="Calibri"/>
                <a:cs typeface="Calibri"/>
                <a:sym typeface="Calibri"/>
              </a:rPr>
              <a:t>Biweekly 30-minute check-ins with three stakeholders — strategic direction, user feedback, and technical escalation. Between sessions I pushed updates asynchronously via a shared Google Doc project hub.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5"/>
          <p:cNvCxnSpPr/>
          <p:nvPr/>
        </p:nvCxnSpPr>
        <p:spPr>
          <a:xfrm>
            <a:off x="365760" y="6409944"/>
            <a:ext cx="6126480" cy="0"/>
          </a:xfrm>
          <a:prstGeom prst="straightConnector1">
            <a:avLst/>
          </a:prstGeom>
          <a:noFill/>
          <a:ln cap="flat" cmpd="sng" w="9525">
            <a:solidFill>
              <a:srgbClr val="EEEC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5"/>
          <p:cNvSpPr/>
          <p:nvPr/>
        </p:nvSpPr>
        <p:spPr>
          <a:xfrm>
            <a:off x="365760" y="6492240"/>
            <a:ext cx="411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AEA"/>
              </a:buClr>
              <a:buSzPts val="2600"/>
              <a:buFont typeface="Cambria"/>
              <a:buNone/>
            </a:pPr>
            <a:r>
              <a:rPr b="0" i="1" lang="en-US" sz="2600" u="none" cap="none" strike="noStrike">
                <a:solidFill>
                  <a:srgbClr val="CCDAEA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822960" y="6492240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Know when to hand off — and how to do it well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822960" y="6784848"/>
            <a:ext cx="5669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5A5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5A56"/>
                </a:solidFill>
                <a:latin typeface="Calibri"/>
                <a:ea typeface="Calibri"/>
                <a:cs typeface="Calibri"/>
                <a:sym typeface="Calibri"/>
              </a:rPr>
              <a:t>The project paused before full integration. Rather than leaving it undocumented, I trained the manager, documented all code and next steps, and marked clearly where the project stopped and what was needed to complete it.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365760" y="8732520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A89E"/>
              </a:buClr>
              <a:buSzPts val="900"/>
              <a:buFont typeface="Cambria"/>
              <a:buNone/>
            </a:pPr>
            <a:r>
              <a:rPr b="0" i="1" lang="en-US" sz="900" u="none" cap="none" strike="noStrike">
                <a:solidFill>
                  <a:srgbClr val="AAA89E"/>
                </a:solidFill>
                <a:latin typeface="Cambria"/>
                <a:ea typeface="Cambria"/>
                <a:cs typeface="Cambria"/>
                <a:sym typeface="Cambria"/>
              </a:rPr>
              <a:t>Rigorous science. Human experience.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365760" y="8732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/>
          <p:nvPr/>
        </p:nvSpPr>
        <p:spPr>
          <a:xfrm>
            <a:off x="365760" y="320040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FA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5FA8"/>
                </a:solidFill>
                <a:latin typeface="Calibri"/>
                <a:ea typeface="Calibri"/>
                <a:cs typeface="Calibri"/>
                <a:sym typeface="Calibri"/>
              </a:rPr>
              <a:t>WHAT I BUILT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6"/>
          <p:cNvCxnSpPr/>
          <p:nvPr/>
        </p:nvCxnSpPr>
        <p:spPr>
          <a:xfrm>
            <a:off x="365760" y="548640"/>
            <a:ext cx="6126480" cy="0"/>
          </a:xfrm>
          <a:prstGeom prst="straightConnector1">
            <a:avLst/>
          </a:prstGeom>
          <a:noFill/>
          <a:ln cap="flat" cmpd="sng" w="9525">
            <a:solidFill>
              <a:srgbClr val="E0DD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6"/>
          <p:cNvSpPr/>
          <p:nvPr/>
        </p:nvSpPr>
        <p:spPr>
          <a:xfrm>
            <a:off x="365760" y="658368"/>
            <a:ext cx="6126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2000"/>
              <a:buFont typeface="Cambria"/>
              <a:buNone/>
            </a:pPr>
            <a:r>
              <a:rPr b="0" i="0" lang="en-US" sz="2000" u="none" cap="none" strike="noStrike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A full working prototype — from email inbox to AI-powered dashboard.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365760" y="1508760"/>
            <a:ext cx="3008376" cy="1234440"/>
          </a:xfrm>
          <a:prstGeom prst="rect">
            <a:avLst/>
          </a:prstGeom>
          <a:solidFill>
            <a:srgbClr val="F7F6F2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493776" y="1600200"/>
            <a:ext cx="27523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FA8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A5FA8"/>
                </a:solidFill>
                <a:latin typeface="Calibri"/>
                <a:ea typeface="Calibri"/>
                <a:cs typeface="Calibri"/>
                <a:sym typeface="Calibri"/>
              </a:rPr>
              <a:t>AUTOMATION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93776" y="1810512"/>
            <a:ext cx="2752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Google Apps Script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93776" y="2103120"/>
            <a:ext cx="275234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Searches Gmail for invoice PDFs, downloads and saves them to organized Drive folders automatically.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3483864" y="1508760"/>
            <a:ext cx="3008376" cy="1234440"/>
          </a:xfrm>
          <a:prstGeom prst="rect">
            <a:avLst/>
          </a:prstGeom>
          <a:solidFill>
            <a:srgbClr val="F7F6F2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3611880" y="1600200"/>
            <a:ext cx="27523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FA8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A5FA8"/>
                </a:solidFill>
                <a:latin typeface="Calibri"/>
                <a:ea typeface="Calibri"/>
                <a:cs typeface="Calibri"/>
                <a:sym typeface="Calibri"/>
              </a:rPr>
              <a:t>AI EXTRACTION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3611880" y="1810512"/>
            <a:ext cx="2752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Gemini via Portkey / Galileo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3611880" y="2103120"/>
            <a:ext cx="275234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Custom GEM reads Drive folders and extracts structured invoice data — PI name, protocol, vendor, amounts, dates.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365760" y="2834640"/>
            <a:ext cx="3008376" cy="1234440"/>
          </a:xfrm>
          <a:prstGeom prst="rect">
            <a:avLst/>
          </a:prstGeom>
          <a:solidFill>
            <a:srgbClr val="F7F6F2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493776" y="2926080"/>
            <a:ext cx="27523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FA8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A5FA8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93776" y="3136392"/>
            <a:ext cx="2752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93776" y="3429000"/>
            <a:ext cx="275234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Dashboard with filters by vendor, protocol, and PI. Overdue invoices flagged. CSV export and PDF upload built in.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3483864" y="2834640"/>
            <a:ext cx="3008376" cy="1234440"/>
          </a:xfrm>
          <a:prstGeom prst="rect">
            <a:avLst/>
          </a:prstGeom>
          <a:solidFill>
            <a:srgbClr val="F7F6F2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3611880" y="2926080"/>
            <a:ext cx="27523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FA8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A5FA8"/>
                </a:solidFill>
                <a:latin typeface="Calibri"/>
                <a:ea typeface="Calibri"/>
                <a:cs typeface="Calibri"/>
                <a:sym typeface="Calibri"/>
              </a:rPr>
              <a:t>DATA SOURCE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3611880" y="3136392"/>
            <a:ext cx="27523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Google Drive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3611880" y="3429000"/>
            <a:ext cx="275234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Final integration point connecting the Drive folder structure to the dashboard — the step at project pause.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365760" y="4251960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FA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5FA8"/>
                </a:solidFill>
                <a:latin typeface="Calibri"/>
                <a:ea typeface="Calibri"/>
                <a:cs typeface="Calibri"/>
                <a:sym typeface="Calibri"/>
              </a:rPr>
              <a:t>THE HANDOFF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6"/>
          <p:cNvCxnSpPr/>
          <p:nvPr/>
        </p:nvCxnSpPr>
        <p:spPr>
          <a:xfrm>
            <a:off x="365760" y="4480560"/>
            <a:ext cx="6126480" cy="0"/>
          </a:xfrm>
          <a:prstGeom prst="straightConnector1">
            <a:avLst/>
          </a:prstGeom>
          <a:noFill/>
          <a:ln cap="flat" cmpd="sng" w="9525">
            <a:solidFill>
              <a:srgbClr val="E0DD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6"/>
          <p:cNvSpPr/>
          <p:nvPr/>
        </p:nvSpPr>
        <p:spPr>
          <a:xfrm>
            <a:off x="365760" y="4572000"/>
            <a:ext cx="6126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600"/>
              <a:buFont typeface="Cambria"/>
              <a:buNone/>
            </a:pPr>
            <a:r>
              <a:rPr b="0" i="0" lang="en-US" sz="1600" u="none" cap="none" strike="noStrike">
                <a:solidFill>
                  <a:srgbClr val="1A1A18"/>
                </a:solidFill>
                <a:latin typeface="Cambria"/>
                <a:ea typeface="Cambria"/>
                <a:cs typeface="Cambria"/>
                <a:sym typeface="Cambria"/>
              </a:rPr>
              <a:t>Left it better than I found it — even unfinished.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365760" y="5166360"/>
            <a:ext cx="3008376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475488" y="5239512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Manager training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75488" y="5486400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Walked the manager through the full system — what each component does and how to run it.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3483864" y="5166360"/>
            <a:ext cx="3008376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3593592" y="5239512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Full documentation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3593592" y="5486400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All code, configuration, and workflow logic documented. No tribal knowledge left in my head only.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365760" y="5943600"/>
            <a:ext cx="3008376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475488" y="6016752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Clear next steps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75488" y="6263640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Explicitly documented where the project paused and what was needed to complete and scale it.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3483864" y="5943600"/>
            <a:ext cx="3008376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3593592" y="6016752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8"/>
                </a:solidFill>
                <a:latin typeface="Calibri"/>
                <a:ea typeface="Calibri"/>
                <a:cs typeface="Calibri"/>
                <a:sym typeface="Calibri"/>
              </a:rPr>
              <a:t>Scalability roadmap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3593592" y="6263640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A6A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A6A66"/>
                </a:solidFill>
                <a:latin typeface="Calibri"/>
                <a:ea typeface="Calibri"/>
                <a:cs typeface="Calibri"/>
                <a:sym typeface="Calibri"/>
              </a:rPr>
              <a:t>Outlined path to full automation with a projected 1,000+ hours saved annually.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365760" y="6720840"/>
            <a:ext cx="6126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FA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A5FA8"/>
                </a:solidFill>
                <a:latin typeface="Calibri"/>
                <a:ea typeface="Calibri"/>
                <a:cs typeface="Calibri"/>
                <a:sym typeface="Calibri"/>
              </a:rPr>
              <a:t>SKILLS &amp; METHODS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6"/>
          <p:cNvCxnSpPr/>
          <p:nvPr/>
        </p:nvCxnSpPr>
        <p:spPr>
          <a:xfrm>
            <a:off x="365760" y="6949440"/>
            <a:ext cx="6126480" cy="0"/>
          </a:xfrm>
          <a:prstGeom prst="straightConnector1">
            <a:avLst/>
          </a:prstGeom>
          <a:noFill/>
          <a:ln cap="flat" cmpd="sng" w="9525">
            <a:solidFill>
              <a:srgbClr val="E0DD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6"/>
          <p:cNvSpPr/>
          <p:nvPr/>
        </p:nvSpPr>
        <p:spPr>
          <a:xfrm>
            <a:off x="365760" y="7086600"/>
            <a:ext cx="1642262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1A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365760" y="7086600"/>
            <a:ext cx="164226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F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5FA8"/>
                </a:solidFill>
                <a:latin typeface="Calibri"/>
                <a:ea typeface="Calibri"/>
                <a:cs typeface="Calibri"/>
                <a:sym typeface="Calibri"/>
              </a:rPr>
              <a:t>AI workflow design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2099462" y="7086600"/>
            <a:ext cx="1642262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1A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2099462" y="7086600"/>
            <a:ext cx="164226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F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5FA8"/>
                </a:solidFill>
                <a:latin typeface="Calibri"/>
                <a:ea typeface="Calibri"/>
                <a:cs typeface="Calibri"/>
                <a:sym typeface="Calibri"/>
              </a:rPr>
              <a:t>Google Apps Script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3833165" y="7086600"/>
            <a:ext cx="967435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1A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3833165" y="7086600"/>
            <a:ext cx="96743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F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5FA8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892040" y="7086600"/>
            <a:ext cx="1267358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1A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4892040" y="7086600"/>
            <a:ext cx="126735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F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5FA8"/>
                </a:solidFill>
                <a:latin typeface="Calibri"/>
                <a:ea typeface="Calibri"/>
                <a:cs typeface="Calibri"/>
                <a:sym typeface="Calibri"/>
              </a:rPr>
              <a:t>LLM prompting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365760" y="7434072"/>
            <a:ext cx="1642262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1A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365760" y="7434072"/>
            <a:ext cx="164226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F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5FA8"/>
                </a:solidFill>
                <a:latin typeface="Calibri"/>
                <a:ea typeface="Calibri"/>
                <a:cs typeface="Calibri"/>
                <a:sym typeface="Calibri"/>
              </a:rPr>
              <a:t>Operational design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2099462" y="7434072"/>
            <a:ext cx="1942186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1A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2099462" y="7434072"/>
            <a:ext cx="194218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F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5FA8"/>
                </a:solidFill>
                <a:latin typeface="Calibri"/>
                <a:ea typeface="Calibri"/>
                <a:cs typeface="Calibri"/>
                <a:sym typeface="Calibri"/>
              </a:rPr>
              <a:t>Stakeholder management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133088" y="7434072"/>
            <a:ext cx="1417320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1A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4133088" y="7434072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F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5FA8"/>
                </a:solidFill>
                <a:latin typeface="Calibri"/>
                <a:ea typeface="Calibri"/>
                <a:cs typeface="Calibri"/>
                <a:sym typeface="Calibri"/>
              </a:rPr>
              <a:t>Problem framing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65760" y="7781544"/>
            <a:ext cx="1567282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1A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365760" y="7781544"/>
            <a:ext cx="156728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F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5FA8"/>
                </a:solidFill>
                <a:latin typeface="Calibri"/>
                <a:ea typeface="Calibri"/>
                <a:cs typeface="Calibri"/>
                <a:sym typeface="Calibri"/>
              </a:rPr>
              <a:t>Human-in-the-loop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2024482" y="7781544"/>
            <a:ext cx="1642262" cy="25603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1A5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2024482" y="7781544"/>
            <a:ext cx="164226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FA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A5FA8"/>
                </a:solidFill>
                <a:latin typeface="Calibri"/>
                <a:ea typeface="Calibri"/>
                <a:cs typeface="Calibri"/>
                <a:sym typeface="Calibri"/>
              </a:rPr>
              <a:t>Product management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0" y="8138160"/>
            <a:ext cx="6858000" cy="1005840"/>
          </a:xfrm>
          <a:prstGeom prst="rect">
            <a:avLst/>
          </a:prstGeom>
          <a:solidFill>
            <a:srgbClr val="111110"/>
          </a:solidFill>
          <a:ln cap="flat" cmpd="sng" w="12700">
            <a:solidFill>
              <a:srgbClr val="1111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365760" y="8275320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Christine Mazzi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65760" y="864108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christinemazzi@berkeley.edu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365760" y="8641080"/>
            <a:ext cx="6126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Cambria"/>
              <a:buNone/>
            </a:pPr>
            <a:r>
              <a:rPr b="0" i="1" lang="en-US" sz="900" u="none" cap="none" strike="noStrike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rPr>
              <a:t>Rigorous science. Human experience.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